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jswl\AppData\Local\Temp\claude\c--Users-cjswl-OneDrive----GitHub-packing-information\3ba0e5b9-a872-4a6e-a9b8-bf1f212a4a00\scratchpad\img\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4967935" cy="6858000"/>
          </a:xfrm>
          <a:prstGeom prst="rect">
            <a:avLst/>
          </a:prstGeom>
        </p:spPr>
      </p:pic>
      <p:pic>
        <p:nvPicPr>
          <p:cNvPr id="3" name="Image 1" descr="C:/Users/cjswl/OneDrive/문서/GitHub/packing-information/logo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7390"/>
            <a:ext cx="1737360" cy="36257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240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731520" y="265176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물류 &amp; 수출 패키징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가이드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731520" y="42519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제품별 포장 규격 · 부피화물(Volume Cargo) 청구중량 · 파렛트 적재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31520" y="6035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  |  기준 자료: 리브스메드_패키징 정보(261013)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OJT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OJT 교육의 목적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교육의 필요성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의료기기 제품군은 중량 대비 부피가 큰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부피화물(Volume Cargo)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무게만으로 운송을 안내하면 고객사·포워더 견적에서 운임 오차가 크게 발생합니다. 박스 규격, CBM, 적재 스펙을 정확히 알고 있어야 PI 단계에서 물류비를 맞게 안내할 수 있습니다.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645920"/>
            <a:ext cx="0" cy="42062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학습 목표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7512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36092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패킹 관련 기초 정보 숙지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75120" y="2880360"/>
            <a:ext cx="493776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67512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360920" y="3063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 단계의 수주 효율화 및 바이어 물류비 최적화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675120" y="3840480"/>
            <a:ext cx="493776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675120" y="4023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360920" y="4023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부피화물(Volume Cargo) 청구중량 구조 이해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46304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Packing Information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제품별 이너/아우터 박스·파렛트 규격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13232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 Box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13232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제품별 이너 박스 실물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3154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463040" y="3154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Outer Box &amp; Pallet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46304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항공/해상 수출 시 포장 형태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17920" y="3154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132320" y="3154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ArtiSential Standard Packaging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13232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바이어·포워더 안내용 표준 스펙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4617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463040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Chargeable Weight &amp; CBM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463040" y="5029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청구중량·CBM 계산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17920" y="4617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7132320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 시 유의사항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132320" y="5029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국가별·자재별 예외 케이스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Packing Information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제품별 포장 규격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1143000"/>
                <a:gridCol w="640080"/>
                <a:gridCol w="868680"/>
                <a:gridCol w="658368"/>
                <a:gridCol w="658368"/>
                <a:gridCol w="658368"/>
                <a:gridCol w="658368"/>
                <a:gridCol w="658368"/>
                <a:gridCol w="777240"/>
                <a:gridCol w="1993392"/>
              </a:tblGrid>
              <a:tr h="2743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Transport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Validation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Dimension (cm)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Weight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G.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Weight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수량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(Max)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Remark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가로(W)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세로(L)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높이(H)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74320">
                <a:tc rowSpan="11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ArtiSential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1개용(38cm)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비멸균 최대 4개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1개용(45cm)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비멸균 최대 4개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아우터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10개용(38cm)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골지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10개용(45cm)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골지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5개용(38cm)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골지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5개용(45cm)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골지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허가 O, 출고물량 저조로 보유자재 X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2개용(38cm)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비멸균 품목에 사용중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2개용(48cm)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Pallet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 적재(Full)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 적재(Full)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 적재(Full)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ACA03-PG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아우터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5개용(L)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미국은 Validation 완료, 타국가 확인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080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단위: cm / kg   ·   Transport Validation: 운송 검증(O 완료, X 미검증)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Packing Information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제품별 포장 규격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1143000"/>
                <a:gridCol w="640080"/>
                <a:gridCol w="868680"/>
                <a:gridCol w="658368"/>
                <a:gridCol w="658368"/>
                <a:gridCol w="658368"/>
                <a:gridCol w="658368"/>
                <a:gridCol w="658368"/>
                <a:gridCol w="777240"/>
                <a:gridCol w="1993392"/>
              </a:tblGrid>
              <a:tr h="2743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Transport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Validation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Dimension (cm)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Weight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G.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Weight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수량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(Max)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Remark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가로(W)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세로(L)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높이(H)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74320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ArtiSeal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1개용(S/M)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아우터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5개용(S/M)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골지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5개용(L)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골지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Pallet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 적재(Full)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 적재(Full)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 적재(Full)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AT0810_Trocar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5배수로 주문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아우터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50개용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Trocar 전용 Outer Box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ASG-1000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ArtiSeal Generator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아우터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1대 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TK-04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아우터 박스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Max 6개용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9.9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ArtiSential 5개용 BOX 사용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Max 12개용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ArtiSential 10개용 BOX 사용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080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단위: cm / kg   ·   Transport Validation: 운송 검증(O 완료, X 미검증)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Inner 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ArtiSential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pic>
        <p:nvPicPr>
          <p:cNvPr id="8" name="Image 1" descr="C:\Users\cjswl\AppData\Local\Temp\claude\c--Users-cjswl-OneDrive----GitHub-packing-information\3ba0e5b9-a872-4a6e-a9b8-bf1f212a4a00\scratchpad\img\image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1732"/>
            <a:ext cx="5394960" cy="2471656"/>
          </a:xfrm>
          <a:prstGeom prst="rect">
            <a:avLst/>
          </a:prstGeom>
        </p:spPr>
      </p:pic>
      <p:pic>
        <p:nvPicPr>
          <p:cNvPr id="9" name="Image 2" descr="C:\Users\cjswl\AppData\Local\Temp\claude\c--Users-cjswl-OneDrive----GitHub-packing-information\3ba0e5b9-a872-4a6e-a9b8-bf1f212a4a00\scratchpad\img\image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28685"/>
            <a:ext cx="5394960" cy="3417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5193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이너 박스 외관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245352" y="5193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이너 박스 내부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577840"/>
          <a:ext cx="11091672" cy="914400"/>
        </p:xfrm>
        <a:graphic>
          <a:graphicData uri="http://schemas.openxmlformats.org/drawingml/2006/table">
            <a:tbl>
              <a:tblPr/>
              <a:tblGrid>
                <a:gridCol w="3771168"/>
                <a:gridCol w="732050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 1개용(38cm)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 × 32 × 10 cm  ·  1개 입  ·  비멸균 최대 4개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Inner 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ArtiSeal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pic>
        <p:nvPicPr>
          <p:cNvPr id="8" name="Image 1" descr="C:\Users\cjswl\AppData\Local\Temp\claude\c--Users-cjswl-OneDrive----GitHub-packing-information\3ba0e5b9-a872-4a6e-a9b8-bf1f212a4a00\scratchpad\img\image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9674"/>
            <a:ext cx="5394960" cy="3195771"/>
          </a:xfrm>
          <a:prstGeom prst="rect">
            <a:avLst/>
          </a:prstGeom>
        </p:spPr>
      </p:pic>
      <p:pic>
        <p:nvPicPr>
          <p:cNvPr id="9" name="Image 2" descr="C:\Users\cjswl\AppData\Local\Temp\claude\c--Users-cjswl-OneDrive----GitHub-packing-information\3ba0e5b9-a872-4a6e-a9b8-bf1f212a4a00\scratchpad\img\image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67713"/>
            <a:ext cx="5394960" cy="35396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5193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이너 박스 외관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245352" y="5193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이너 박스 내부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577840"/>
          <a:ext cx="11091672" cy="914400"/>
        </p:xfrm>
        <a:graphic>
          <a:graphicData uri="http://schemas.openxmlformats.org/drawingml/2006/table">
            <a:tbl>
              <a:tblPr/>
              <a:tblGrid>
                <a:gridCol w="3771168"/>
                <a:gridCol w="732050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 1개용(S/M)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 × 32 × 8 cm  ·  1개 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Inner 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Training Kit (TK-04)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pic>
        <p:nvPicPr>
          <p:cNvPr id="8" name="Image 1" descr="C:\Users\cjswl\AppData\Local\Temp\claude\c--Users-cjswl-OneDrive----GitHub-packing-information\3ba0e5b9-a872-4a6e-a9b8-bf1f212a4a00\scratchpad\img\image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24" y="1554480"/>
            <a:ext cx="4823791" cy="3566160"/>
          </a:xfrm>
          <a:prstGeom prst="rect">
            <a:avLst/>
          </a:prstGeom>
        </p:spPr>
      </p:pic>
      <p:pic>
        <p:nvPicPr>
          <p:cNvPr id="9" name="Image 2" descr="C:\Users\cjswl\AppData\Local\Temp\claude\c--Users-cjswl-OneDrive----GitHub-packing-information\3ba0e5b9-a872-4a6e-a9b8-bf1f212a4a00\scratchpad\img\image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285" y="1554480"/>
            <a:ext cx="4931094" cy="3566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5193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이너 박스 외관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245352" y="5193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이너 박스 내부 구성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577840"/>
          <a:ext cx="11091672" cy="914400"/>
        </p:xfrm>
        <a:graphic>
          <a:graphicData uri="http://schemas.openxmlformats.org/drawingml/2006/table">
            <a:tbl>
              <a:tblPr/>
              <a:tblGrid>
                <a:gridCol w="3771168"/>
                <a:gridCol w="732050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 1개용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 × 12 × 34 cm  ·  Net 1.65 kg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Inner 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Trocar · Suture Pad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pic>
        <p:nvPicPr>
          <p:cNvPr id="8" name="Image 1" descr="C:\Users\cjswl\AppData\Local\Temp\claude\c--Users-cjswl-OneDrive----GitHub-packing-information\3ba0e5b9-a872-4a6e-a9b8-bf1f212a4a00\scratchpad\img\image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42" y="1554480"/>
            <a:ext cx="4745557" cy="3566160"/>
          </a:xfrm>
          <a:prstGeom prst="rect">
            <a:avLst/>
          </a:prstGeom>
        </p:spPr>
      </p:pic>
      <p:pic>
        <p:nvPicPr>
          <p:cNvPr id="9" name="Image 2" descr="C:\Users\cjswl\AppData\Local\Temp\claude\c--Users-cjswl-OneDrive----GitHub-packing-information\3ba0e5b9-a872-4a6e-a9b8-bf1f212a4a00\scratchpad\img\image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36" y="1554480"/>
            <a:ext cx="4926391" cy="3566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5193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AT0810_Trocar 이너 박스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245352" y="5193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Suture Pad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577840"/>
          <a:ext cx="5394960" cy="914400"/>
        </p:xfrm>
        <a:graphic>
          <a:graphicData uri="http://schemas.openxmlformats.org/drawingml/2006/table">
            <a:tbl>
              <a:tblPr/>
              <a:tblGrid>
                <a:gridCol w="1834286"/>
                <a:gridCol w="356067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 5개용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 × 12 × 21 cm  ·  Net 0.56 kg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단위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5배수로 주문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Outer Box &amp; Pallet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항공 수출 시 – 아우터 박스 포장 형태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pic>
        <p:nvPicPr>
          <p:cNvPr id="8" name="Image 1" descr="C:\Users\cjswl\AppData\Local\Temp\claude\c--Users-cjswl-OneDrive----GitHub-packing-information\3ba0e5b9-a872-4a6e-a9b8-bf1f212a4a00\scratchpad\img\image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1595"/>
            <a:ext cx="4206240" cy="45777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ArtiSential 아우터 박스 (B 골지)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920240"/>
          <a:ext cx="65196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822960"/>
                <a:gridCol w="822960"/>
                <a:gridCol w="822960"/>
                <a:gridCol w="12618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 × L × H (cm)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Gross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Validation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10개용(38cm)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 × 66 × 56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10개용(45cm)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 × 66 × 56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5개용(38cm)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 × 35 × 56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5개용(45cm)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 × 35 × 56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2개용(38cm)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 × 35 × 22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120640" y="4114800"/>
            <a:ext cx="6519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아우터 박스에 이너 박스를 담고 밴딩·라벨(박스 번호) 작업 후 출고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45cm 5개용은 출고 물량 저조로 포장 자재 미보유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2개용(38cm)은 Transport Validation 미완료 – 비멸균 품목에만 사용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Outer Box &amp; Pallet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 수출 시 – Pallet 포장 형태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pic>
        <p:nvPicPr>
          <p:cNvPr id="8" name="Image 1" descr="C:\Users\cjswl\AppData\Local\Temp\claude\c--Users-cjswl-OneDrive----GitHub-packing-information\3ba0e5b9-a872-4a6e-a9b8-bf1f212a4a00\scratchpad\img\image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6991"/>
            <a:ext cx="5120640" cy="39469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504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Pallet 적재 규격 (148 × 113 cm 기준)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6052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17320"/>
                <a:gridCol w="1417320"/>
                <a:gridCol w="1399032"/>
              </a:tblGrid>
              <a:tr h="32918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ArtiSential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ArtiSeal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3291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높이(H)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높이(H)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 (Full)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 cm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units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cm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 (Full)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135 cm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 units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105 cm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 (Full)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185 cm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units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 cm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035040" y="3840480"/>
            <a:ext cx="5605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아우터 박스를 파렛트 위에 단적재 후 랩핑·밴딩, 박스마다 번호 라벨 부착 (예: 1/5, 2/5 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ArtiSential 10개용 아우터 박스 기준 1단당 2박스(20 units)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여객기 적재 높이 제한 Max 160 cm → 최대 2단까지 가능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ArtiSential Standard Packaging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ArtiSential 표준 포장 스펙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764792"/>
                <a:gridCol w="1828800"/>
                <a:gridCol w="1828800"/>
                <a:gridCol w="1892808"/>
                <a:gridCol w="1892808"/>
                <a:gridCol w="1883664"/>
              </a:tblGrid>
              <a:tr h="36576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Dimensions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OCEAN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Carton (5 units)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Carton (10 units)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Pallet (Single stack)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Pallet (Double stack)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Pallet (Triple stack)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Dimensions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77cm(W) × 35cm(L)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56cm(H)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77cm(W) × 66cm(L)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56cm(H)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148cm(W) × 113cm(L)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75cm(H)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148cm(W) × 113cm(L)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135cm(H)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148cm(W) × 113cm(L)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185cm(H)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Weight (kg)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18.5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89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126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C.Weight (kg)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 CBM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2.3 CBM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 CBM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EA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EA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EA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EA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 EA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Q'ty (units)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units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units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units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 units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units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892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바이어·포워더에게 운송 스펙을 안내할 때 사용하는 표준 자료입니다.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AIR의 C.Weight는 Courier 기준(÷5,000) 부피중량, OCEAN은 파렛트 CBM입니다.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Chargeable Weight &amp; CBM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청구중량(Chargeable Weight)은 어떻게 정해지나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11091672" cy="914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554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Chargeable Weight  =  </a:t>
            </a:r>
            <a:pPr algn="ctr" indent="0" marL="0">
              <a:buNone/>
            </a:pPr>
            <a:r>
              <a:rPr lang="en-US" sz="20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</a:t>
            </a:r>
            <a:pPr algn="ctr" indent="0" marL="0">
              <a:buNone/>
            </a:pPr>
            <a:r>
              <a:rPr lang="en-US" sz="20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 실제중량 Gross Weight ,  부피중량 Volume Weight )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965192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운송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부피중량 계산식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Courier (DHL, FedEx 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 × 세로 × 높이 (cm) ÷ 5,000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스펙표 C.Weight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Forwarder (항공)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 × 세로 × 높이 (cm) ÷ 6,000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CBM ≒ 166.67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Forwarder (해상)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 × 세로 × 높이 (cm) ÷ 1,000,000 = CBM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CBM ≒ 1,000 kg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4526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– ArtiSential 10개용 아우터 박스 (77 × 66 × 56 cm, Gross 18.5 kg)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Courier 부피중량 = 77 × 66 × 56 ÷ 5,000 =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56.92 kg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실제 무게(18.5 kg)의 약 3배로 청구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Forwarder 부피중량 = 77 × 66 × 56 ÷ 6,000 =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47.43 kg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같은 박스라도 운송 방식에 따라 청구중량이 달라짐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Chargeable Weight &amp; CBM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 계산표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Chargeable Weight (Carton)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188720"/>
                <a:gridCol w="1188720"/>
                <a:gridCol w="1188720"/>
                <a:gridCol w="1463040"/>
                <a:gridCol w="1536192"/>
                <a:gridCol w="16916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 (cm)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세로 (cm)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 (cm)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Gross Wt (kg)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Volume Wt (kg)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Chargeable Wt (kg)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Courier (÷5,000)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56.92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56.92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Courier (÷5,000)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30.18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30.18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Forwarder (÷6,000)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47.43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47.43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Forwarder (÷6,000)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CBM (Pallet)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  <a:gridCol w="1554480"/>
                <a:gridCol w="1554480"/>
                <a:gridCol w="1463040"/>
                <a:gridCol w="16733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 (장, 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세로 (폭, 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 (고, cm)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CBM (㎥)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Pallet 수량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Total CBM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 적재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1.505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1.505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 적재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2.258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2.258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 적재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3.094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3.094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48640" y="55321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CBM = 가로 × 세로 × 높이 (cm) ÷ 1,000,000, 소수점 셋째 자리 반올림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포장 시 유의사항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국가별 · 자재별 예외 케이스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4415" cy="0"/>
          </a:xfrm>
          <a:prstGeom prst="line">
            <a:avLst/>
          </a:prstGeom>
          <a:noFill/>
          <a:ln w="15875">
            <a:solidFill>
              <a:srgbClr val="1B2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해외영업관리팀 OJT  |  Export Packaging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pic>
        <p:nvPicPr>
          <p:cNvPr id="7" name="Image 0" descr="C:/Users/cjswl/OneDrive/문서/GitHub/packing-information/리브스메드 로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6409149"/>
            <a:ext cx="1234440" cy="25762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독일 / 유럽 (MDR)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MDR 변경 통보 절차로 기존 이너박스 사용. 이중포장 시 Outer Box는 구형 38 박스 적용 (전 국가 신규 이너박스 적용 시점까지 유지)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여객기 적재 높이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Max 160 cm (최대 2단). 5개용 아우터 박스 2단 적재 시 112 cm → 상부 약 48 cm Dead Space 발생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ArtiSential 45cm 5개용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허가는 있으나 출고 물량 저조로 포장 자재 미보유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ArtiSential 2개용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Transport Validation 미완료 – 비멸균 품목에만 사용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ACA03-PG 5개용(L)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미국은 Validation 완료, 타 국가는 확인 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AT0810_Trocar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이너 박스 5개 단위 → 5배수로 주문 필요, 전용 Outer Box(50개용) 사용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24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TK-04 (Training Kit)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별도 아우터 박스 없이 ArtiSential 5개용(Max 6) / 10개용(Max 12) 박스 사용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해외 물류 &amp; 수출 패키징 실무 가이드</dc:title>
  <dc:subject>PptxGenJS Presentation</dc:subject>
  <dc:creator>해외영업관리팀</dc:creator>
  <cp:lastModifiedBy>해외영업관리팀</cp:lastModifiedBy>
  <cp:revision>1</cp:revision>
  <dcterms:created xsi:type="dcterms:W3CDTF">2026-10-15T02:57:33Z</dcterms:created>
  <dcterms:modified xsi:type="dcterms:W3CDTF">2026-10-15T02:57:33Z</dcterms:modified>
</cp:coreProperties>
</file>